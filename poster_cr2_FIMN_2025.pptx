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59" r:id="rId2"/>
  </p:sldIdLst>
  <p:sldSz cx="32399288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32" userDrawn="1">
          <p15:clr>
            <a:srgbClr val="A4A3A4"/>
          </p15:clr>
        </p15:guide>
        <p15:guide id="2" pos="102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D7EE"/>
    <a:srgbClr val="B6D0E6"/>
    <a:srgbClr val="F0A04B"/>
    <a:srgbClr val="DCA04B"/>
    <a:srgbClr val="F1C93B"/>
    <a:srgbClr val="FFFFFF"/>
    <a:srgbClr val="E7B10A"/>
    <a:srgbClr val="18984C"/>
    <a:srgbClr val="008355"/>
    <a:srgbClr val="1AB4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3"/>
    <p:restoredTop sz="93890" autoAdjust="0"/>
  </p:normalViewPr>
  <p:slideViewPr>
    <p:cSldViewPr snapToGrid="0">
      <p:cViewPr>
        <p:scale>
          <a:sx n="37" d="100"/>
          <a:sy n="37" d="100"/>
        </p:scale>
        <p:origin x="1408" y="-3032"/>
      </p:cViewPr>
      <p:guideLst>
        <p:guide orient="horz" pos="13632"/>
        <p:guide pos="1020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4E7D4-4606-49CB-B9C4-9034319CD4DC}" type="datetimeFigureOut">
              <a:rPr lang="es-CL" smtClean="0"/>
              <a:t>04-11-25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0A3B-85B0-4B76-AEE9-FF26D2B4D3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726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F4FA6-C541-B35C-1898-E66839496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0F250AD-0632-59B3-1D30-2F8CB5CAF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0412EF-2365-4F4E-704F-2CBDF9DE1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BB5280-439E-922A-9837-E7E9726AE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760A3B-85B0-4B76-AEE9-FF26D2B4D3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7263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D6B-29FA-9944-B3F5-3E16CD319D53}" type="datetimeFigureOut">
              <a:rPr lang="es-CL" smtClean="0"/>
              <a:t>04-11-25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DB0C-0241-5043-B841-B72B265017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54616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06" userDrawn="1">
          <p15:clr>
            <a:srgbClr val="FBAE40"/>
          </p15:clr>
        </p15:guide>
        <p15:guide id="2" pos="102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D6B-29FA-9944-B3F5-3E16CD319D53}" type="datetimeFigureOut">
              <a:rPr lang="es-CL" smtClean="0"/>
              <a:t>04-11-25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DB0C-0241-5043-B841-B72B265017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1871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D6B-29FA-9944-B3F5-3E16CD319D53}" type="datetimeFigureOut">
              <a:rPr lang="es-CL" smtClean="0"/>
              <a:t>04-11-25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DB0C-0241-5043-B841-B72B265017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0515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D6B-29FA-9944-B3F5-3E16CD319D53}" type="datetimeFigureOut">
              <a:rPr lang="es-CL" smtClean="0"/>
              <a:t>04-11-25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DB0C-0241-5043-B841-B72B265017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2123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D6B-29FA-9944-B3F5-3E16CD319D53}" type="datetimeFigureOut">
              <a:rPr lang="es-CL" smtClean="0"/>
              <a:t>04-11-25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DB0C-0241-5043-B841-B72B265017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476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D6B-29FA-9944-B3F5-3E16CD319D53}" type="datetimeFigureOut">
              <a:rPr lang="es-CL" smtClean="0"/>
              <a:t>04-11-25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DB0C-0241-5043-B841-B72B265017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3551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D6B-29FA-9944-B3F5-3E16CD319D53}" type="datetimeFigureOut">
              <a:rPr lang="es-CL" smtClean="0"/>
              <a:t>04-11-25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DB0C-0241-5043-B841-B72B265017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1904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D6B-29FA-9944-B3F5-3E16CD319D53}" type="datetimeFigureOut">
              <a:rPr lang="es-CL" smtClean="0"/>
              <a:t>04-11-25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DB0C-0241-5043-B841-B72B265017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3219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D6B-29FA-9944-B3F5-3E16CD319D53}" type="datetimeFigureOut">
              <a:rPr lang="es-CL" smtClean="0"/>
              <a:t>04-11-25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DB0C-0241-5043-B841-B72B265017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4387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D6B-29FA-9944-B3F5-3E16CD319D53}" type="datetimeFigureOut">
              <a:rPr lang="es-CL" smtClean="0"/>
              <a:t>04-11-25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DB0C-0241-5043-B841-B72B265017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9416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7D6B-29FA-9944-B3F5-3E16CD319D53}" type="datetimeFigureOut">
              <a:rPr lang="es-CL" smtClean="0"/>
              <a:t>04-11-25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CDB0C-0241-5043-B841-B72B265017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421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07D6B-29FA-9944-B3F5-3E16CD319D53}" type="datetimeFigureOut">
              <a:rPr lang="es-CL" smtClean="0"/>
              <a:t>04-11-25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CDB0C-0241-5043-B841-B72B265017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681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jpeg"/><Relationship Id="rId19" Type="http://schemas.openxmlformats.org/officeDocument/2006/relationships/image" Target="../media/image17.jpe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jpe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7AC54-97F2-2DBD-FFBD-7F17C9F3F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Rectángulo: esquinas redondeadas 1352">
            <a:extLst>
              <a:ext uri="{FF2B5EF4-FFF2-40B4-BE49-F238E27FC236}">
                <a16:creationId xmlns:a16="http://schemas.microsoft.com/office/drawing/2014/main" id="{75A1EF85-46DD-56C5-ED1C-FD1B828F3286}"/>
              </a:ext>
            </a:extLst>
          </p:cNvPr>
          <p:cNvSpPr/>
          <p:nvPr/>
        </p:nvSpPr>
        <p:spPr>
          <a:xfrm>
            <a:off x="695518" y="8671470"/>
            <a:ext cx="10300021" cy="3200598"/>
          </a:xfrm>
          <a:prstGeom prst="roundRect">
            <a:avLst>
              <a:gd name="adj" fmla="val 3685"/>
            </a:avLst>
          </a:prstGeom>
          <a:solidFill>
            <a:srgbClr val="BDD7EE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19"/>
          </a:p>
        </p:txBody>
      </p:sp>
      <p:sp>
        <p:nvSpPr>
          <p:cNvPr id="1353" name="Rectángulo: esquinas redondeadas 1352">
            <a:extLst>
              <a:ext uri="{FF2B5EF4-FFF2-40B4-BE49-F238E27FC236}">
                <a16:creationId xmlns:a16="http://schemas.microsoft.com/office/drawing/2014/main" id="{B4B13B3F-47D8-9A53-2858-9707FA3AC8CC}"/>
              </a:ext>
            </a:extLst>
          </p:cNvPr>
          <p:cNvSpPr/>
          <p:nvPr/>
        </p:nvSpPr>
        <p:spPr>
          <a:xfrm>
            <a:off x="17970522" y="7978883"/>
            <a:ext cx="8570548" cy="4768741"/>
          </a:xfrm>
          <a:prstGeom prst="roundRect">
            <a:avLst>
              <a:gd name="adj" fmla="val 3685"/>
            </a:avLst>
          </a:prstGeom>
          <a:solidFill>
            <a:srgbClr val="BDD7EE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19"/>
          </a:p>
        </p:txBody>
      </p:sp>
      <p:sp>
        <p:nvSpPr>
          <p:cNvPr id="1352" name="Rectángulo: esquinas redondeadas 1351">
            <a:extLst>
              <a:ext uri="{FF2B5EF4-FFF2-40B4-BE49-F238E27FC236}">
                <a16:creationId xmlns:a16="http://schemas.microsoft.com/office/drawing/2014/main" id="{E5ACFF1A-FA29-8C13-4D4B-E5CC6FF802C6}"/>
              </a:ext>
            </a:extLst>
          </p:cNvPr>
          <p:cNvSpPr/>
          <p:nvPr/>
        </p:nvSpPr>
        <p:spPr>
          <a:xfrm>
            <a:off x="11455824" y="23188028"/>
            <a:ext cx="7356072" cy="9806756"/>
          </a:xfrm>
          <a:prstGeom prst="roundRect">
            <a:avLst>
              <a:gd name="adj" fmla="val 9487"/>
            </a:avLst>
          </a:prstGeom>
          <a:solidFill>
            <a:srgbClr val="BDD7EE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19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D11EB53-4B81-B898-F43E-9D69824941AF}"/>
              </a:ext>
            </a:extLst>
          </p:cNvPr>
          <p:cNvSpPr txBox="1"/>
          <p:nvPr/>
        </p:nvSpPr>
        <p:spPr>
          <a:xfrm>
            <a:off x="10971987" y="10081651"/>
            <a:ext cx="7003265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6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Fig. 1</a:t>
            </a:r>
            <a:r>
              <a:rPr lang="es-MX" sz="2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Campos de </a:t>
            </a:r>
            <a:r>
              <a:rPr lang="es-MX" sz="265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Tillandsia</a:t>
            </a:r>
            <a:r>
              <a:rPr lang="es-MX" sz="2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es-CL" sz="26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C7068E77-8EAB-9B3A-15F7-C503A6B36B6E}"/>
              </a:ext>
            </a:extLst>
          </p:cNvPr>
          <p:cNvSpPr txBox="1"/>
          <p:nvPr/>
        </p:nvSpPr>
        <p:spPr>
          <a:xfrm>
            <a:off x="772590" y="8794297"/>
            <a:ext cx="10174340" cy="299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6844" indent="-576844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r>
              <a:rPr lang="es-MX" sz="314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 el desierto, la niebla y el rocío son fuentes importantes de agua.</a:t>
            </a:r>
          </a:p>
          <a:p>
            <a:pPr marL="576844" indent="-576844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r>
              <a:rPr lang="es-MX" sz="314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 niebla ha sido más estudiada que el rocío.</a:t>
            </a:r>
          </a:p>
          <a:p>
            <a:pPr marL="576844" indent="-576844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r>
              <a:rPr lang="es-MX" sz="314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Instrumentos como SFC o SDC confunden ambas colectas.</a:t>
            </a:r>
          </a:p>
          <a:p>
            <a:pPr marL="576844" indent="-576844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r>
              <a:rPr lang="es-MX" sz="314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Diferenciarlos de manera clara es esencial para balances hídricos precisos y tecnologías de captación.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BC8EB97-9B07-E1B6-718C-D88E059B50A1}"/>
              </a:ext>
            </a:extLst>
          </p:cNvPr>
          <p:cNvSpPr/>
          <p:nvPr/>
        </p:nvSpPr>
        <p:spPr>
          <a:xfrm>
            <a:off x="0" y="592084"/>
            <a:ext cx="32399288" cy="5957429"/>
          </a:xfrm>
          <a:prstGeom prst="rect">
            <a:avLst/>
          </a:prstGeom>
          <a:solidFill>
            <a:srgbClr val="0070C0"/>
          </a:solidFill>
          <a:ln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4278584688">
                  <a:custGeom>
                    <a:avLst/>
                    <a:gdLst>
                      <a:gd name="connsiteX0" fmla="*/ 0 w 37408794"/>
                      <a:gd name="connsiteY0" fmla="*/ 0 h 5378738"/>
                      <a:gd name="connsiteX1" fmla="*/ 37408794 w 37408794"/>
                      <a:gd name="connsiteY1" fmla="*/ 0 h 5378738"/>
                      <a:gd name="connsiteX2" fmla="*/ 37408794 w 37408794"/>
                      <a:gd name="connsiteY2" fmla="*/ 5378738 h 5378738"/>
                      <a:gd name="connsiteX3" fmla="*/ 0 w 37408794"/>
                      <a:gd name="connsiteY3" fmla="*/ 5378738 h 5378738"/>
                      <a:gd name="connsiteX4" fmla="*/ 0 w 37408794"/>
                      <a:gd name="connsiteY4" fmla="*/ 0 h 53787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7408794" h="5378738" fill="none" extrusionOk="0">
                        <a:moveTo>
                          <a:pt x="0" y="0"/>
                        </a:moveTo>
                        <a:cubicBezTo>
                          <a:pt x="13644385" y="32280"/>
                          <a:pt x="19867437" y="26521"/>
                          <a:pt x="37408794" y="0"/>
                        </a:cubicBezTo>
                        <a:cubicBezTo>
                          <a:pt x="37490067" y="758494"/>
                          <a:pt x="37469236" y="2820952"/>
                          <a:pt x="37408794" y="5378738"/>
                        </a:cubicBezTo>
                        <a:cubicBezTo>
                          <a:pt x="26355149" y="5291505"/>
                          <a:pt x="7807472" y="5214111"/>
                          <a:pt x="0" y="5378738"/>
                        </a:cubicBezTo>
                        <a:cubicBezTo>
                          <a:pt x="154974" y="2914465"/>
                          <a:pt x="-92518" y="739259"/>
                          <a:pt x="0" y="0"/>
                        </a:cubicBezTo>
                        <a:close/>
                      </a:path>
                      <a:path w="37408794" h="5378738" stroke="0" extrusionOk="0">
                        <a:moveTo>
                          <a:pt x="0" y="0"/>
                        </a:moveTo>
                        <a:cubicBezTo>
                          <a:pt x="11252432" y="139695"/>
                          <a:pt x="21980694" y="-45648"/>
                          <a:pt x="37408794" y="0"/>
                        </a:cubicBezTo>
                        <a:cubicBezTo>
                          <a:pt x="37265570" y="1255463"/>
                          <a:pt x="37564046" y="3245180"/>
                          <a:pt x="37408794" y="5378738"/>
                        </a:cubicBezTo>
                        <a:cubicBezTo>
                          <a:pt x="28325383" y="5484688"/>
                          <a:pt x="18049425" y="5296021"/>
                          <a:pt x="0" y="5378738"/>
                        </a:cubicBezTo>
                        <a:cubicBezTo>
                          <a:pt x="103495" y="2982820"/>
                          <a:pt x="-32700" y="155790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33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911E4AA-34AD-A5EA-7754-359F2A789AFD}"/>
              </a:ext>
            </a:extLst>
          </p:cNvPr>
          <p:cNvSpPr txBox="1"/>
          <p:nvPr/>
        </p:nvSpPr>
        <p:spPr>
          <a:xfrm>
            <a:off x="403656" y="770625"/>
            <a:ext cx="17865568" cy="25545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lang="en-US" sz="8000" b="1" dirty="0" err="1">
                <a:solidFill>
                  <a:schemeClr val="bg1"/>
                </a:solidFill>
                <a:ea typeface="Helvetica Neue" panose="02000503000000020004" pitchFamily="2" charset="0"/>
                <a:cs typeface="Courier New" panose="02070309020205020404" pitchFamily="49" charset="0"/>
              </a:rPr>
              <a:t>Caracterización</a:t>
            </a:r>
            <a:r>
              <a:rPr lang="en-US" sz="8000" b="1" dirty="0">
                <a:solidFill>
                  <a:schemeClr val="bg1"/>
                </a:solidFill>
                <a:ea typeface="Helvetica Neue" panose="02000503000000020004" pitchFamily="2" charset="0"/>
                <a:cs typeface="Courier New" panose="02070309020205020404" pitchFamily="49" charset="0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ea typeface="Helvetica Neue" panose="02000503000000020004" pitchFamily="2" charset="0"/>
                <a:cs typeface="Courier New" panose="02070309020205020404" pitchFamily="49" charset="0"/>
              </a:rPr>
              <a:t>termodinámica</a:t>
            </a:r>
            <a:r>
              <a:rPr lang="en-US" sz="8000" b="1" dirty="0">
                <a:solidFill>
                  <a:schemeClr val="bg1"/>
                </a:solidFill>
                <a:ea typeface="Helvetica Neue" panose="02000503000000020004" pitchFamily="2" charset="0"/>
                <a:cs typeface="Courier New" panose="02070309020205020404" pitchFamily="49" charset="0"/>
              </a:rPr>
              <a:t> de la </a:t>
            </a:r>
            <a:r>
              <a:rPr lang="en-US" sz="8000" b="1" dirty="0" err="1">
                <a:solidFill>
                  <a:schemeClr val="bg1"/>
                </a:solidFill>
                <a:ea typeface="Helvetica Neue" panose="02000503000000020004" pitchFamily="2" charset="0"/>
                <a:cs typeface="Courier New" panose="02070309020205020404" pitchFamily="49" charset="0"/>
              </a:rPr>
              <a:t>capa</a:t>
            </a:r>
            <a:r>
              <a:rPr lang="en-US" sz="8000" b="1" dirty="0">
                <a:solidFill>
                  <a:schemeClr val="bg1"/>
                </a:solidFill>
                <a:ea typeface="Helvetica Neue" panose="02000503000000020004" pitchFamily="2" charset="0"/>
                <a:cs typeface="Courier New" panose="02070309020205020404" pitchFamily="49" charset="0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ea typeface="Helvetica Neue" panose="02000503000000020004" pitchFamily="2" charset="0"/>
                <a:cs typeface="Courier New" panose="02070309020205020404" pitchFamily="49" charset="0"/>
              </a:rPr>
              <a:t>límite</a:t>
            </a:r>
            <a:r>
              <a:rPr lang="en-US" sz="8000" b="1" dirty="0">
                <a:solidFill>
                  <a:schemeClr val="bg1"/>
                </a:solidFill>
                <a:ea typeface="Helvetica Neue" panose="02000503000000020004" pitchFamily="2" charset="0"/>
                <a:cs typeface="Courier New" panose="02070309020205020404" pitchFamily="49" charset="0"/>
              </a:rPr>
              <a:t> bajo </a:t>
            </a:r>
            <a:r>
              <a:rPr lang="en-US" sz="8000" b="1" dirty="0" err="1">
                <a:solidFill>
                  <a:schemeClr val="bg1"/>
                </a:solidFill>
                <a:ea typeface="Helvetica Neue" panose="02000503000000020004" pitchFamily="2" charset="0"/>
                <a:cs typeface="Courier New" panose="02070309020205020404" pitchFamily="49" charset="0"/>
              </a:rPr>
              <a:t>eventos</a:t>
            </a:r>
            <a:r>
              <a:rPr lang="en-US" sz="8000" b="1" dirty="0">
                <a:solidFill>
                  <a:schemeClr val="bg1"/>
                </a:solidFill>
                <a:ea typeface="Helvetica Neue" panose="02000503000000020004" pitchFamily="2" charset="0"/>
                <a:cs typeface="Courier New" panose="02070309020205020404" pitchFamily="49" charset="0"/>
              </a:rPr>
              <a:t> de </a:t>
            </a:r>
            <a:r>
              <a:rPr lang="en-US" sz="8000" b="1" dirty="0" err="1">
                <a:solidFill>
                  <a:schemeClr val="bg1"/>
                </a:solidFill>
                <a:ea typeface="Helvetica Neue" panose="02000503000000020004" pitchFamily="2" charset="0"/>
                <a:cs typeface="Courier New" panose="02070309020205020404" pitchFamily="49" charset="0"/>
              </a:rPr>
              <a:t>niebla</a:t>
            </a:r>
            <a:r>
              <a:rPr lang="en-US" sz="8000" b="1" dirty="0">
                <a:solidFill>
                  <a:schemeClr val="bg1"/>
                </a:solidFill>
                <a:ea typeface="Helvetica Neue" panose="02000503000000020004" pitchFamily="2" charset="0"/>
                <a:cs typeface="Courier New" panose="02070309020205020404" pitchFamily="49" charset="0"/>
              </a:rPr>
              <a:t> y </a:t>
            </a:r>
            <a:r>
              <a:rPr lang="en-US" sz="8000" b="1" dirty="0" err="1">
                <a:solidFill>
                  <a:schemeClr val="bg1"/>
                </a:solidFill>
                <a:ea typeface="Helvetica Neue" panose="02000503000000020004" pitchFamily="2" charset="0"/>
                <a:cs typeface="Courier New" panose="02070309020205020404" pitchFamily="49" charset="0"/>
              </a:rPr>
              <a:t>rocío</a:t>
            </a:r>
            <a:endParaRPr lang="es-CL" sz="15500" b="1" dirty="0">
              <a:solidFill>
                <a:schemeClr val="bg1"/>
              </a:solidFill>
              <a:ea typeface="Helvetica Neue" panose="02000503000000020004" pitchFamily="2" charset="0"/>
              <a:cs typeface="Courier New" panose="02070309020205020404" pitchFamily="49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5B313B0-D6E0-A7A2-939A-E98BB3ECA7F9}"/>
              </a:ext>
            </a:extLst>
          </p:cNvPr>
          <p:cNvSpPr txBox="1"/>
          <p:nvPr/>
        </p:nvSpPr>
        <p:spPr>
          <a:xfrm>
            <a:off x="-1251578" y="6943211"/>
            <a:ext cx="14222676" cy="782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486" b="1" dirty="0">
                <a:solidFill>
                  <a:schemeClr val="tx1">
                    <a:lumMod val="85000"/>
                    <a:lumOff val="15000"/>
                  </a:schemeClr>
                </a:solidFill>
                <a:cs typeface="Courier New" panose="02070309020205020404" pitchFamily="49" charset="0"/>
              </a:rPr>
              <a:t>1. MOTIVACIÓN Y PROBLEMÁTICA</a:t>
            </a:r>
            <a:endParaRPr lang="en-US" sz="4486" dirty="0">
              <a:solidFill>
                <a:schemeClr val="tx1">
                  <a:lumMod val="85000"/>
                  <a:lumOff val="15000"/>
                </a:schemeClr>
              </a:solidFill>
              <a:cs typeface="Courier New" panose="02070309020205020404" pitchFamily="49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600D185-D6E0-9923-B2E8-3B7B9ADE263E}"/>
              </a:ext>
            </a:extLst>
          </p:cNvPr>
          <p:cNvSpPr txBox="1"/>
          <p:nvPr/>
        </p:nvSpPr>
        <p:spPr>
          <a:xfrm>
            <a:off x="-250031" y="40920409"/>
            <a:ext cx="4242443" cy="57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14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MENSAJE PRINCIPAL</a:t>
            </a:r>
            <a:endParaRPr lang="en-US" sz="3140" b="1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12B2EFD1-B9B6-B2C8-DF72-6E41DE1CAF91}"/>
              </a:ext>
            </a:extLst>
          </p:cNvPr>
          <p:cNvGrpSpPr/>
          <p:nvPr/>
        </p:nvGrpSpPr>
        <p:grpSpPr>
          <a:xfrm>
            <a:off x="27391728" y="886266"/>
            <a:ext cx="5520242" cy="2628195"/>
            <a:chOff x="24939199" y="733502"/>
            <a:chExt cx="3802372" cy="2036102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0125DD41-902A-CB5D-B63D-A8D286D133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grayscl/>
            </a:blip>
            <a:srcRect b="37016"/>
            <a:stretch/>
          </p:blipFill>
          <p:spPr>
            <a:xfrm>
              <a:off x="24939199" y="733502"/>
              <a:ext cx="1777238" cy="20361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1094ED52-7E1D-635A-14DA-30A0366559DA}"/>
                </a:ext>
              </a:extLst>
            </p:cNvPr>
            <p:cNvSpPr txBox="1"/>
            <p:nvPr/>
          </p:nvSpPr>
          <p:spPr>
            <a:xfrm>
              <a:off x="26603966" y="1345598"/>
              <a:ext cx="2137605" cy="1062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2243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PONTIFICIA UNIVERSIDAD CATÓLICA </a:t>
              </a:r>
            </a:p>
            <a:p>
              <a:r>
                <a:rPr lang="es-CL" sz="2243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 CHILE</a:t>
              </a:r>
            </a:p>
          </p:txBody>
        </p:sp>
      </p:grpSp>
      <p:sp>
        <p:nvSpPr>
          <p:cNvPr id="1027" name="CuadroTexto 1026">
            <a:extLst>
              <a:ext uri="{FF2B5EF4-FFF2-40B4-BE49-F238E27FC236}">
                <a16:creationId xmlns:a16="http://schemas.microsoft.com/office/drawing/2014/main" id="{C9773C0C-99BC-0DEA-777F-C66B7EE6AE19}"/>
              </a:ext>
            </a:extLst>
          </p:cNvPr>
          <p:cNvSpPr txBox="1"/>
          <p:nvPr/>
        </p:nvSpPr>
        <p:spPr>
          <a:xfrm>
            <a:off x="403655" y="3569800"/>
            <a:ext cx="21910680" cy="257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400" dirty="0">
                <a:solidFill>
                  <a:schemeClr val="bg1"/>
                </a:solidFill>
              </a:rPr>
              <a:t>F. Muñoz </a:t>
            </a:r>
            <a:r>
              <a:rPr lang="es-CL" sz="4400" baseline="30000" dirty="0">
                <a:solidFill>
                  <a:schemeClr val="bg1"/>
                </a:solidFill>
              </a:rPr>
              <a:t>2,3</a:t>
            </a:r>
            <a:r>
              <a:rPr lang="es-CL" sz="4400" dirty="0">
                <a:solidFill>
                  <a:schemeClr val="bg1"/>
                </a:solidFill>
              </a:rPr>
              <a:t> , F. Lobos-Roco</a:t>
            </a:r>
            <a:r>
              <a:rPr lang="es-CL" sz="4400" baseline="30000" dirty="0">
                <a:solidFill>
                  <a:schemeClr val="bg1"/>
                </a:solidFill>
              </a:rPr>
              <a:t>2,3</a:t>
            </a:r>
            <a:r>
              <a:rPr lang="es-CL" sz="4400" dirty="0">
                <a:solidFill>
                  <a:schemeClr val="bg1"/>
                </a:solidFill>
              </a:rPr>
              <a:t>, S. Acevedo</a:t>
            </a:r>
            <a:r>
              <a:rPr lang="es-CL" sz="4400" baseline="30000" dirty="0">
                <a:solidFill>
                  <a:schemeClr val="bg1"/>
                </a:solidFill>
              </a:rPr>
              <a:t>3</a:t>
            </a:r>
            <a:r>
              <a:rPr lang="es-CL" sz="4400" dirty="0">
                <a:solidFill>
                  <a:schemeClr val="bg1"/>
                </a:solidFill>
              </a:rPr>
              <a:t>, C. Del Río</a:t>
            </a:r>
            <a:r>
              <a:rPr lang="es-CL" sz="4400" baseline="30000" dirty="0">
                <a:solidFill>
                  <a:schemeClr val="bg1"/>
                </a:solidFill>
              </a:rPr>
              <a:t>1,2</a:t>
            </a:r>
            <a:endParaRPr lang="es-CL" sz="44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endParaRPr lang="es-CL" sz="4400" baseline="300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r>
              <a:rPr lang="es-CL" sz="4400" baseline="30000" dirty="0">
                <a:solidFill>
                  <a:schemeClr val="bg1"/>
                </a:solidFill>
                <a:cs typeface="Courier New" panose="02070309020205020404" pitchFamily="49" charset="0"/>
              </a:rPr>
              <a:t>1 Instituto de Geografía, Pontificia Universidad Católica de Chile</a:t>
            </a:r>
          </a:p>
          <a:p>
            <a:r>
              <a:rPr lang="es-CL" sz="4400" baseline="30000" dirty="0">
                <a:solidFill>
                  <a:schemeClr val="bg1"/>
                </a:solidFill>
                <a:cs typeface="Courier New" panose="02070309020205020404" pitchFamily="49" charset="0"/>
              </a:rPr>
              <a:t>2 Centro UC Desierto de Atacama</a:t>
            </a:r>
          </a:p>
          <a:p>
            <a:r>
              <a:rPr lang="es-CL" sz="4400" baseline="30000" dirty="0">
                <a:solidFill>
                  <a:schemeClr val="bg1"/>
                </a:solidFill>
                <a:cs typeface="Courier New" panose="02070309020205020404" pitchFamily="49" charset="0"/>
              </a:rPr>
              <a:t>3 Facultad de Agronomía y Sistemas Naturales, Pontifica Universidad Católica de Chile</a:t>
            </a:r>
          </a:p>
        </p:txBody>
      </p:sp>
      <p:sp>
        <p:nvSpPr>
          <p:cNvPr id="1031" name="CuadroTexto 1030">
            <a:extLst>
              <a:ext uri="{FF2B5EF4-FFF2-40B4-BE49-F238E27FC236}">
                <a16:creationId xmlns:a16="http://schemas.microsoft.com/office/drawing/2014/main" id="{3AD355BE-D0CB-2A57-D010-4881E2D47319}"/>
              </a:ext>
            </a:extLst>
          </p:cNvPr>
          <p:cNvSpPr txBox="1"/>
          <p:nvPr/>
        </p:nvSpPr>
        <p:spPr>
          <a:xfrm>
            <a:off x="15762637" y="3908970"/>
            <a:ext cx="161227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CL" sz="3600" dirty="0">
                <a:solidFill>
                  <a:srgbClr val="FFFFFF"/>
                </a:solidFill>
              </a:rPr>
              <a:t>Facultad de Agronomía y Sistemas Naturales, Pontificia Universidad Católica de Chile</a:t>
            </a:r>
          </a:p>
          <a:p>
            <a:pPr algn="r"/>
            <a:r>
              <a:rPr lang="es-CL" sz="3600" dirty="0">
                <a:solidFill>
                  <a:srgbClr val="FFFFFF"/>
                </a:solidFill>
              </a:rPr>
              <a:t>Avda. Vicuña Mackenna 4860, Santiago – Chile.</a:t>
            </a:r>
          </a:p>
          <a:p>
            <a:pPr algn="r"/>
            <a:r>
              <a:rPr lang="es-CL" sz="3600" dirty="0">
                <a:solidFill>
                  <a:srgbClr val="FFFFFF"/>
                </a:solidFill>
              </a:rPr>
              <a:t>Tesis II – Magíster en Recursos Naturales</a:t>
            </a:r>
          </a:p>
          <a:p>
            <a:pPr algn="r"/>
            <a:endParaRPr lang="es-CL" sz="3600" dirty="0">
              <a:solidFill>
                <a:srgbClr val="FFFFFF"/>
              </a:solidFill>
            </a:endParaRPr>
          </a:p>
        </p:txBody>
      </p:sp>
      <p:sp>
        <p:nvSpPr>
          <p:cNvPr id="1033" name="CuadroTexto 1032">
            <a:extLst>
              <a:ext uri="{FF2B5EF4-FFF2-40B4-BE49-F238E27FC236}">
                <a16:creationId xmlns:a16="http://schemas.microsoft.com/office/drawing/2014/main" id="{7ED4B06E-092E-CA07-C979-982996DDA7FE}"/>
              </a:ext>
            </a:extLst>
          </p:cNvPr>
          <p:cNvSpPr txBox="1"/>
          <p:nvPr/>
        </p:nvSpPr>
        <p:spPr>
          <a:xfrm>
            <a:off x="29140414" y="41362787"/>
            <a:ext cx="3345834" cy="57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14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Agradecimientos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61A752E-8CF5-AC46-ED7E-6B4BC5383280}"/>
              </a:ext>
            </a:extLst>
          </p:cNvPr>
          <p:cNvSpPr txBox="1"/>
          <p:nvPr/>
        </p:nvSpPr>
        <p:spPr>
          <a:xfrm>
            <a:off x="17732212" y="6844295"/>
            <a:ext cx="8764525" cy="78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86" b="1" dirty="0">
                <a:solidFill>
                  <a:schemeClr val="tx1">
                    <a:lumMod val="85000"/>
                    <a:lumOff val="15000"/>
                  </a:schemeClr>
                </a:solidFill>
                <a:cs typeface="Courier New" panose="02070309020205020404" pitchFamily="49" charset="0"/>
              </a:rPr>
              <a:t>2. METODOLOGIA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1EC6591F-6A4F-D7C9-DE66-F36729687F41}"/>
              </a:ext>
            </a:extLst>
          </p:cNvPr>
          <p:cNvSpPr txBox="1"/>
          <p:nvPr/>
        </p:nvSpPr>
        <p:spPr>
          <a:xfrm>
            <a:off x="15465384" y="22155647"/>
            <a:ext cx="19999646" cy="78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86" b="1" dirty="0">
                <a:solidFill>
                  <a:schemeClr val="tx1">
                    <a:lumMod val="85000"/>
                    <a:lumOff val="15000"/>
                  </a:schemeClr>
                </a:solidFill>
                <a:cs typeface="Courier New" panose="02070309020205020404" pitchFamily="49" charset="0"/>
              </a:rPr>
              <a:t>4. GRADIENTES VERTICALES</a:t>
            </a:r>
          </a:p>
        </p:txBody>
      </p:sp>
      <p:sp>
        <p:nvSpPr>
          <p:cNvPr id="1361" name="CuadroTexto 1360">
            <a:extLst>
              <a:ext uri="{FF2B5EF4-FFF2-40B4-BE49-F238E27FC236}">
                <a16:creationId xmlns:a16="http://schemas.microsoft.com/office/drawing/2014/main" id="{68457E0C-140A-D515-A9EB-C496462AEC7C}"/>
              </a:ext>
            </a:extLst>
          </p:cNvPr>
          <p:cNvSpPr txBox="1"/>
          <p:nvPr/>
        </p:nvSpPr>
        <p:spPr>
          <a:xfrm>
            <a:off x="16683377" y="41884344"/>
            <a:ext cx="15629206" cy="1541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314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Proyecto FONDECYT 11250466 </a:t>
            </a:r>
          </a:p>
          <a:p>
            <a:pPr algn="r"/>
            <a:r>
              <a:rPr lang="es-CL" sz="314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Investigaciones IPRE 2023</a:t>
            </a:r>
          </a:p>
          <a:p>
            <a:pPr algn="r"/>
            <a:endParaRPr lang="es-CL" sz="314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F98BA95-7857-042F-FBAA-4AD4F53D3972}"/>
              </a:ext>
            </a:extLst>
          </p:cNvPr>
          <p:cNvSpPr txBox="1"/>
          <p:nvPr/>
        </p:nvSpPr>
        <p:spPr>
          <a:xfrm>
            <a:off x="763363" y="21141958"/>
            <a:ext cx="10515033" cy="506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6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Fig. 4.</a:t>
            </a:r>
            <a:r>
              <a:rPr lang="es-MX" sz="2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Descripción gráfica de la formación de los eventos de niebla y rocío.</a:t>
            </a:r>
          </a:p>
        </p:txBody>
      </p:sp>
      <p:sp>
        <p:nvSpPr>
          <p:cNvPr id="1399" name="Rectángulo 1398">
            <a:extLst>
              <a:ext uri="{FF2B5EF4-FFF2-40B4-BE49-F238E27FC236}">
                <a16:creationId xmlns:a16="http://schemas.microsoft.com/office/drawing/2014/main" id="{AD22815C-FF98-0078-03FD-82C11BA771A9}"/>
              </a:ext>
            </a:extLst>
          </p:cNvPr>
          <p:cNvSpPr/>
          <p:nvPr/>
        </p:nvSpPr>
        <p:spPr>
          <a:xfrm>
            <a:off x="-5400675" y="21954681"/>
            <a:ext cx="43200638" cy="80747"/>
          </a:xfrm>
          <a:prstGeom prst="rect">
            <a:avLst/>
          </a:prstGeom>
          <a:solidFill>
            <a:srgbClr val="BDD7EE">
              <a:alpha val="69804"/>
            </a:srgbClr>
          </a:solidFill>
          <a:ln>
            <a:solidFill>
              <a:srgbClr val="BDD7EE">
                <a:alpha val="6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19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C76E4A9-52BF-78E9-C32E-2A02A7DCC197}"/>
              </a:ext>
            </a:extLst>
          </p:cNvPr>
          <p:cNvSpPr txBox="1"/>
          <p:nvPr/>
        </p:nvSpPr>
        <p:spPr>
          <a:xfrm>
            <a:off x="18073215" y="7946986"/>
            <a:ext cx="8206674" cy="44412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endParaRPr lang="en-US" sz="3140" dirty="0">
              <a:solidFill>
                <a:schemeClr val="tx1"/>
              </a:solidFill>
            </a:endParaRPr>
          </a:p>
          <a:p>
            <a:pPr marL="576844" indent="-576844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r>
              <a:rPr lang="es-CL" sz="3140" dirty="0"/>
              <a:t>Se trabaja con un transecto altitudinal del cerro Oyarbide, a la costa del desierto de Atacama.</a:t>
            </a:r>
          </a:p>
          <a:p>
            <a:pPr marL="576844" indent="-576844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r>
              <a:rPr lang="es-CL" sz="3140" dirty="0"/>
              <a:t>Se usaron registros de SFC y SDC de la estación 1211 del cerro (2023-2024).</a:t>
            </a:r>
          </a:p>
          <a:p>
            <a:pPr marL="576844" indent="-576844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r>
              <a:rPr lang="es-CL" sz="314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 aplicaron dos reclasificaciones de eventos tras captación: una basada en GOES (nube baja) y otra en visibilidad (umbral de 1000m).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E56EFC98-49B0-A7C9-2510-7E3AF0A7D02C}"/>
              </a:ext>
            </a:extLst>
          </p:cNvPr>
          <p:cNvSpPr txBox="1"/>
          <p:nvPr/>
        </p:nvSpPr>
        <p:spPr>
          <a:xfrm>
            <a:off x="403258" y="33098399"/>
            <a:ext cx="7486026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6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Fig. 6. </a:t>
            </a:r>
            <a:r>
              <a:rPr lang="es-CL" sz="2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Ejemplos de dos jornadas donde se observa ambigüedad en la captación.</a:t>
            </a:r>
          </a:p>
        </p:txBody>
      </p:sp>
      <p:sp>
        <p:nvSpPr>
          <p:cNvPr id="1360" name="Rectángulo 1359">
            <a:extLst>
              <a:ext uri="{FF2B5EF4-FFF2-40B4-BE49-F238E27FC236}">
                <a16:creationId xmlns:a16="http://schemas.microsoft.com/office/drawing/2014/main" id="{9262285E-B72F-83FD-6632-684E398AB766}"/>
              </a:ext>
            </a:extLst>
          </p:cNvPr>
          <p:cNvSpPr/>
          <p:nvPr/>
        </p:nvSpPr>
        <p:spPr>
          <a:xfrm>
            <a:off x="-5532334" y="40646467"/>
            <a:ext cx="43332297" cy="80747"/>
          </a:xfrm>
          <a:prstGeom prst="rect">
            <a:avLst/>
          </a:prstGeom>
          <a:solidFill>
            <a:srgbClr val="BDD7EE">
              <a:alpha val="69804"/>
            </a:srgbClr>
          </a:solidFill>
          <a:ln>
            <a:solidFill>
              <a:srgbClr val="BDD7EE">
                <a:alpha val="6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19"/>
          </a:p>
        </p:txBody>
      </p:sp>
      <p:sp>
        <p:nvSpPr>
          <p:cNvPr id="1376" name="CuadroTexto 1375">
            <a:extLst>
              <a:ext uri="{FF2B5EF4-FFF2-40B4-BE49-F238E27FC236}">
                <a16:creationId xmlns:a16="http://schemas.microsoft.com/office/drawing/2014/main" id="{DF370C3A-8320-3966-2002-75EE45D9C61F}"/>
              </a:ext>
            </a:extLst>
          </p:cNvPr>
          <p:cNvSpPr txBox="1"/>
          <p:nvPr/>
        </p:nvSpPr>
        <p:spPr>
          <a:xfrm>
            <a:off x="134606" y="41478255"/>
            <a:ext cx="255066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200" dirty="0"/>
              <a:t>Se confirma que la combinación de visibilidad, captación y gradientes térmicos permite distinguir con mayor precisión entre niebla y rocío, mostrando que la proporción de eventos cambia significativamente al incorporar más variables y no coincide necesariamente con lo registrado solo por los captadores. Aun así, falta seguir investigando más casos y temporadas para comprender bien la dinámica y variabilidad de ambos procesos.</a:t>
            </a:r>
            <a:endParaRPr lang="es-CL" sz="3140" dirty="0"/>
          </a:p>
        </p:txBody>
      </p:sp>
      <p:sp>
        <p:nvSpPr>
          <p:cNvPr id="1379" name="CuadroTexto 1378">
            <a:extLst>
              <a:ext uri="{FF2B5EF4-FFF2-40B4-BE49-F238E27FC236}">
                <a16:creationId xmlns:a16="http://schemas.microsoft.com/office/drawing/2014/main" id="{1DEB95E9-80C9-3CD9-A3E0-E80FBF72E5B8}"/>
              </a:ext>
            </a:extLst>
          </p:cNvPr>
          <p:cNvSpPr txBox="1"/>
          <p:nvPr/>
        </p:nvSpPr>
        <p:spPr>
          <a:xfrm>
            <a:off x="27681942" y="23567250"/>
            <a:ext cx="3980392" cy="57554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20469" indent="-320469" algn="just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s-MX" sz="3140" dirty="0"/>
          </a:p>
        </p:txBody>
      </p:sp>
      <p:sp>
        <p:nvSpPr>
          <p:cNvPr id="1386" name="CuadroTexto 1385">
            <a:extLst>
              <a:ext uri="{FF2B5EF4-FFF2-40B4-BE49-F238E27FC236}">
                <a16:creationId xmlns:a16="http://schemas.microsoft.com/office/drawing/2014/main" id="{1E13A5CE-EE23-F31F-B948-61A8DC39666B}"/>
              </a:ext>
            </a:extLst>
          </p:cNvPr>
          <p:cNvSpPr txBox="1"/>
          <p:nvPr/>
        </p:nvSpPr>
        <p:spPr>
          <a:xfrm>
            <a:off x="-576060" y="19220184"/>
            <a:ext cx="652058" cy="644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589" b="1" dirty="0">
                <a:solidFill>
                  <a:schemeClr val="bg1"/>
                </a:solidFill>
              </a:rPr>
              <a:t>3</a:t>
            </a:r>
            <a:endParaRPr lang="es-CL" sz="3589" b="1" dirty="0">
              <a:solidFill>
                <a:schemeClr val="bg1"/>
              </a:solidFill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55A32883-7592-67B4-B51B-738583D29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7611" y="1542118"/>
            <a:ext cx="7114583" cy="1321935"/>
          </a:xfrm>
          <a:prstGeom prst="rect">
            <a:avLst/>
          </a:prstGeom>
        </p:spPr>
      </p:pic>
      <p:sp>
        <p:nvSpPr>
          <p:cNvPr id="42" name="Rectángulo redondeado 41">
            <a:extLst>
              <a:ext uri="{FF2B5EF4-FFF2-40B4-BE49-F238E27FC236}">
                <a16:creationId xmlns:a16="http://schemas.microsoft.com/office/drawing/2014/main" id="{9ACCEF4C-ED40-C1AD-A04F-5EEEE1BE95BC}"/>
              </a:ext>
            </a:extLst>
          </p:cNvPr>
          <p:cNvSpPr/>
          <p:nvPr/>
        </p:nvSpPr>
        <p:spPr>
          <a:xfrm>
            <a:off x="17923469" y="13292939"/>
            <a:ext cx="3980392" cy="1009839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692" b="1" dirty="0">
                <a:solidFill>
                  <a:schemeClr val="bg1"/>
                </a:solidFill>
              </a:rPr>
              <a:t>Captadores (SFC / SDC)</a:t>
            </a:r>
          </a:p>
          <a:p>
            <a:pPr algn="ctr"/>
            <a:r>
              <a:rPr lang="es-CL" sz="2692" i="1" dirty="0">
                <a:solidFill>
                  <a:schemeClr val="bg1"/>
                </a:solidFill>
              </a:rPr>
              <a:t>Estación 1211, Oyarbide</a:t>
            </a:r>
            <a:endParaRPr lang="es-CL" sz="2019" i="1" dirty="0">
              <a:solidFill>
                <a:schemeClr val="bg1"/>
              </a:solidFill>
            </a:endParaRPr>
          </a:p>
        </p:txBody>
      </p:sp>
      <p:sp>
        <p:nvSpPr>
          <p:cNvPr id="43" name="Rectángulo redondeado 42">
            <a:extLst>
              <a:ext uri="{FF2B5EF4-FFF2-40B4-BE49-F238E27FC236}">
                <a16:creationId xmlns:a16="http://schemas.microsoft.com/office/drawing/2014/main" id="{D0EF7E8D-3267-D6E3-FF65-523FE819ADB9}"/>
              </a:ext>
            </a:extLst>
          </p:cNvPr>
          <p:cNvSpPr/>
          <p:nvPr/>
        </p:nvSpPr>
        <p:spPr>
          <a:xfrm>
            <a:off x="17906572" y="14408043"/>
            <a:ext cx="3980392" cy="125718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692" b="1" dirty="0">
                <a:solidFill>
                  <a:schemeClr val="bg1"/>
                </a:solidFill>
              </a:rPr>
              <a:t>Variables locales:</a:t>
            </a:r>
          </a:p>
          <a:p>
            <a:pPr algn="ctr"/>
            <a:r>
              <a:rPr lang="es-CL" sz="2692" b="1" dirty="0">
                <a:solidFill>
                  <a:schemeClr val="bg1"/>
                </a:solidFill>
              </a:rPr>
              <a:t>Visibilidad, HR y LF</a:t>
            </a:r>
          </a:p>
          <a:p>
            <a:pPr algn="ctr"/>
            <a:r>
              <a:rPr lang="es-CL" sz="2692" i="1" dirty="0">
                <a:solidFill>
                  <a:schemeClr val="bg1"/>
                </a:solidFill>
              </a:rPr>
              <a:t>Estación 1211, Oyarbide</a:t>
            </a:r>
            <a:endParaRPr lang="es-CL" sz="2019" i="1" dirty="0">
              <a:solidFill>
                <a:schemeClr val="bg1"/>
              </a:solidFill>
            </a:endParaRPr>
          </a:p>
        </p:txBody>
      </p:sp>
      <p:sp>
        <p:nvSpPr>
          <p:cNvPr id="44" name="Rectángulo redondeado 43">
            <a:extLst>
              <a:ext uri="{FF2B5EF4-FFF2-40B4-BE49-F238E27FC236}">
                <a16:creationId xmlns:a16="http://schemas.microsoft.com/office/drawing/2014/main" id="{1BCE7E98-71B5-AC3F-2D9F-2B34CAAB31CB}"/>
              </a:ext>
            </a:extLst>
          </p:cNvPr>
          <p:cNvSpPr/>
          <p:nvPr/>
        </p:nvSpPr>
        <p:spPr>
          <a:xfrm>
            <a:off x="17901965" y="15762408"/>
            <a:ext cx="4001896" cy="917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692" b="1" dirty="0">
                <a:solidFill>
                  <a:schemeClr val="bg1"/>
                </a:solidFill>
              </a:rPr>
              <a:t>GOES</a:t>
            </a:r>
          </a:p>
          <a:p>
            <a:pPr algn="ctr"/>
            <a:r>
              <a:rPr lang="es-CL" sz="2692" i="1" dirty="0">
                <a:solidFill>
                  <a:schemeClr val="bg1"/>
                </a:solidFill>
              </a:rPr>
              <a:t>Satélite</a:t>
            </a:r>
            <a:endParaRPr lang="es-CL" sz="2019" i="1" dirty="0">
              <a:solidFill>
                <a:schemeClr val="bg1"/>
              </a:solidFill>
            </a:endParaRPr>
          </a:p>
        </p:txBody>
      </p:sp>
      <p:sp>
        <p:nvSpPr>
          <p:cNvPr id="45" name="Rectángulo redondeado 44">
            <a:extLst>
              <a:ext uri="{FF2B5EF4-FFF2-40B4-BE49-F238E27FC236}">
                <a16:creationId xmlns:a16="http://schemas.microsoft.com/office/drawing/2014/main" id="{65218728-0E4A-20E6-E6C9-4F6083D6A1C4}"/>
              </a:ext>
            </a:extLst>
          </p:cNvPr>
          <p:cNvSpPr/>
          <p:nvPr/>
        </p:nvSpPr>
        <p:spPr>
          <a:xfrm>
            <a:off x="22915409" y="14522507"/>
            <a:ext cx="1493762" cy="57772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692" b="1" dirty="0">
                <a:solidFill>
                  <a:schemeClr val="bg1"/>
                </a:solidFill>
              </a:rPr>
              <a:t>NIEBLA</a:t>
            </a:r>
            <a:endParaRPr lang="es-CL" sz="2019" i="1" dirty="0">
              <a:solidFill>
                <a:schemeClr val="bg1"/>
              </a:solidFill>
            </a:endParaRPr>
          </a:p>
        </p:txBody>
      </p:sp>
      <p:sp>
        <p:nvSpPr>
          <p:cNvPr id="46" name="Rectángulo redondeado 45">
            <a:extLst>
              <a:ext uri="{FF2B5EF4-FFF2-40B4-BE49-F238E27FC236}">
                <a16:creationId xmlns:a16="http://schemas.microsoft.com/office/drawing/2014/main" id="{12C46830-551A-2943-CC3E-3E1535D7201F}"/>
              </a:ext>
            </a:extLst>
          </p:cNvPr>
          <p:cNvSpPr/>
          <p:nvPr/>
        </p:nvSpPr>
        <p:spPr>
          <a:xfrm>
            <a:off x="24760940" y="14533676"/>
            <a:ext cx="1347699" cy="56655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692" b="1" dirty="0">
                <a:solidFill>
                  <a:schemeClr val="bg1"/>
                </a:solidFill>
              </a:rPr>
              <a:t>ROCÍO</a:t>
            </a:r>
            <a:endParaRPr lang="es-CL" sz="2019" dirty="0">
              <a:solidFill>
                <a:schemeClr val="bg1"/>
              </a:solidFill>
            </a:endParaRPr>
          </a:p>
        </p:txBody>
      </p:sp>
      <p:sp>
        <p:nvSpPr>
          <p:cNvPr id="1371" name="CuadroTexto 1370">
            <a:extLst>
              <a:ext uri="{FF2B5EF4-FFF2-40B4-BE49-F238E27FC236}">
                <a16:creationId xmlns:a16="http://schemas.microsoft.com/office/drawing/2014/main" id="{3E3F0F0B-598D-7D5F-5C53-5FED8D02D559}"/>
              </a:ext>
            </a:extLst>
          </p:cNvPr>
          <p:cNvSpPr txBox="1"/>
          <p:nvPr/>
        </p:nvSpPr>
        <p:spPr>
          <a:xfrm>
            <a:off x="22419312" y="15182449"/>
            <a:ext cx="2633394" cy="920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794" i="1" dirty="0"/>
              <a:t>(SFC/SDC) &gt; 0</a:t>
            </a:r>
          </a:p>
          <a:p>
            <a:pPr algn="ctr"/>
            <a:r>
              <a:rPr lang="es-CL" sz="1794" i="1" dirty="0"/>
              <a:t>(GOES 1) </a:t>
            </a:r>
          </a:p>
          <a:p>
            <a:pPr algn="ctr"/>
            <a:r>
              <a:rPr lang="es-CL" sz="1794" i="1" dirty="0" err="1"/>
              <a:t>Visib</a:t>
            </a:r>
            <a:r>
              <a:rPr lang="es-CL" sz="1794" i="1" dirty="0"/>
              <a:t>. &lt; 1000m</a:t>
            </a:r>
          </a:p>
        </p:txBody>
      </p:sp>
      <p:sp>
        <p:nvSpPr>
          <p:cNvPr id="1064" name="CuadroTexto 1063">
            <a:extLst>
              <a:ext uri="{FF2B5EF4-FFF2-40B4-BE49-F238E27FC236}">
                <a16:creationId xmlns:a16="http://schemas.microsoft.com/office/drawing/2014/main" id="{ABF296EE-2BE3-4E8D-5D62-468780E85449}"/>
              </a:ext>
            </a:extLst>
          </p:cNvPr>
          <p:cNvSpPr txBox="1"/>
          <p:nvPr/>
        </p:nvSpPr>
        <p:spPr>
          <a:xfrm>
            <a:off x="24167483" y="15178692"/>
            <a:ext cx="2633394" cy="920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794" i="1" dirty="0"/>
              <a:t>(SFC/SDC) &gt; 0</a:t>
            </a:r>
          </a:p>
          <a:p>
            <a:pPr algn="ctr"/>
            <a:r>
              <a:rPr lang="es-CL" sz="1794" i="1" dirty="0"/>
              <a:t>(GOES 0) Y </a:t>
            </a:r>
          </a:p>
          <a:p>
            <a:pPr algn="ctr"/>
            <a:r>
              <a:rPr lang="es-CL" sz="1794" i="1" dirty="0" err="1"/>
              <a:t>Visib</a:t>
            </a:r>
            <a:r>
              <a:rPr lang="es-CL" sz="1794" i="1" dirty="0"/>
              <a:t>. &gt; 1000m</a:t>
            </a:r>
          </a:p>
        </p:txBody>
      </p:sp>
      <p:pic>
        <p:nvPicPr>
          <p:cNvPr id="1066" name="Imagen 1065">
            <a:extLst>
              <a:ext uri="{FF2B5EF4-FFF2-40B4-BE49-F238E27FC236}">
                <a16:creationId xmlns:a16="http://schemas.microsoft.com/office/drawing/2014/main" id="{508BCF7C-4C24-5076-51FB-60DE06AC6AE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81528" y="13528581"/>
            <a:ext cx="778580" cy="778580"/>
          </a:xfrm>
          <a:prstGeom prst="rect">
            <a:avLst/>
          </a:prstGeom>
        </p:spPr>
      </p:pic>
      <p:pic>
        <p:nvPicPr>
          <p:cNvPr id="1068" name="Imagen 1067">
            <a:extLst>
              <a:ext uri="{FF2B5EF4-FFF2-40B4-BE49-F238E27FC236}">
                <a16:creationId xmlns:a16="http://schemas.microsoft.com/office/drawing/2014/main" id="{DAECFFDF-69E0-625E-90DB-81C0F0999C2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3198685" y="13387347"/>
            <a:ext cx="1117404" cy="1117404"/>
          </a:xfrm>
          <a:prstGeom prst="rect">
            <a:avLst/>
          </a:prstGeom>
        </p:spPr>
      </p:pic>
      <p:pic>
        <p:nvPicPr>
          <p:cNvPr id="1070" name="Imagen 1069">
            <a:extLst>
              <a:ext uri="{FF2B5EF4-FFF2-40B4-BE49-F238E27FC236}">
                <a16:creationId xmlns:a16="http://schemas.microsoft.com/office/drawing/2014/main" id="{7D3AE1BE-59B3-0419-B38D-934443DE7D19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20836217" y="15740285"/>
            <a:ext cx="891849" cy="891849"/>
          </a:xfrm>
          <a:prstGeom prst="rect">
            <a:avLst/>
          </a:prstGeom>
        </p:spPr>
      </p:pic>
      <p:sp>
        <p:nvSpPr>
          <p:cNvPr id="1409" name="CuadroTexto 1408">
            <a:extLst>
              <a:ext uri="{FF2B5EF4-FFF2-40B4-BE49-F238E27FC236}">
                <a16:creationId xmlns:a16="http://schemas.microsoft.com/office/drawing/2014/main" id="{EF3E384D-FBC8-3B8C-4F46-54D164BDC427}"/>
              </a:ext>
            </a:extLst>
          </p:cNvPr>
          <p:cNvSpPr txBox="1"/>
          <p:nvPr/>
        </p:nvSpPr>
        <p:spPr>
          <a:xfrm>
            <a:off x="1377342" y="7927584"/>
            <a:ext cx="8964836" cy="492443"/>
          </a:xfrm>
          <a:prstGeom prst="rect">
            <a:avLst/>
          </a:prstGeom>
          <a:solidFill>
            <a:srgbClr val="BDD7EE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CL" sz="3200" i="1" dirty="0"/>
              <a:t>Agua atmosférica = Precipitación + Niebla + Rocío</a:t>
            </a:r>
          </a:p>
        </p:txBody>
      </p:sp>
      <p:pic>
        <p:nvPicPr>
          <p:cNvPr id="1419" name="Imagen 1418">
            <a:extLst>
              <a:ext uri="{FF2B5EF4-FFF2-40B4-BE49-F238E27FC236}">
                <a16:creationId xmlns:a16="http://schemas.microsoft.com/office/drawing/2014/main" id="{765BCFAE-EDDF-7968-570C-665BFDA24B4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3840" t="5322" b="6089"/>
          <a:stretch>
            <a:fillRect/>
          </a:stretch>
        </p:blipFill>
        <p:spPr>
          <a:xfrm>
            <a:off x="26889010" y="6687036"/>
            <a:ext cx="5221185" cy="7994720"/>
          </a:xfrm>
          <a:prstGeom prst="rect">
            <a:avLst/>
          </a:prstGeom>
          <a:ln>
            <a:solidFill>
              <a:srgbClr val="BDD7EE"/>
            </a:solidFill>
          </a:ln>
        </p:spPr>
      </p:pic>
      <p:sp>
        <p:nvSpPr>
          <p:cNvPr id="1421" name="CuadroTexto 1420">
            <a:extLst>
              <a:ext uri="{FF2B5EF4-FFF2-40B4-BE49-F238E27FC236}">
                <a16:creationId xmlns:a16="http://schemas.microsoft.com/office/drawing/2014/main" id="{8F9F4538-4D5B-D160-9F93-FC5FA7F1040D}"/>
              </a:ext>
            </a:extLst>
          </p:cNvPr>
          <p:cNvSpPr txBox="1"/>
          <p:nvPr/>
        </p:nvSpPr>
        <p:spPr>
          <a:xfrm>
            <a:off x="26587766" y="14698854"/>
            <a:ext cx="5862839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6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Fig. 5.</a:t>
            </a:r>
            <a:r>
              <a:rPr lang="es-MX" sz="2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Transecta altitudinal de estaciones meteorológicas del área de estudio.</a:t>
            </a:r>
            <a:endParaRPr lang="es-CL" sz="26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33" name="CuadroTexto 1432">
            <a:extLst>
              <a:ext uri="{FF2B5EF4-FFF2-40B4-BE49-F238E27FC236}">
                <a16:creationId xmlns:a16="http://schemas.microsoft.com/office/drawing/2014/main" id="{3901CDBF-6025-1BB1-7B58-2172A98DBBE7}"/>
              </a:ext>
            </a:extLst>
          </p:cNvPr>
          <p:cNvSpPr txBox="1"/>
          <p:nvPr/>
        </p:nvSpPr>
        <p:spPr>
          <a:xfrm>
            <a:off x="1162408" y="22229185"/>
            <a:ext cx="15934479" cy="78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86" b="1" dirty="0">
                <a:solidFill>
                  <a:schemeClr val="tx1">
                    <a:lumMod val="85000"/>
                    <a:lumOff val="15000"/>
                  </a:schemeClr>
                </a:solidFill>
                <a:cs typeface="Courier New" panose="02070309020205020404" pitchFamily="49" charset="0"/>
              </a:rPr>
              <a:t>3. RECLASIFICACIÓN</a:t>
            </a:r>
          </a:p>
        </p:txBody>
      </p:sp>
      <p:pic>
        <p:nvPicPr>
          <p:cNvPr id="1435" name="Imagen 1434">
            <a:extLst>
              <a:ext uri="{FF2B5EF4-FFF2-40B4-BE49-F238E27FC236}">
                <a16:creationId xmlns:a16="http://schemas.microsoft.com/office/drawing/2014/main" id="{7D17CD3B-2CB5-E018-7F64-FD507C1EE79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0858" t="258" b="11689"/>
          <a:stretch>
            <a:fillRect/>
          </a:stretch>
        </p:blipFill>
        <p:spPr>
          <a:xfrm>
            <a:off x="512155" y="23064243"/>
            <a:ext cx="6801839" cy="9973313"/>
          </a:xfrm>
          <a:prstGeom prst="rect">
            <a:avLst/>
          </a:prstGeom>
          <a:ln>
            <a:solidFill>
              <a:srgbClr val="BDD7EE"/>
            </a:solidFill>
          </a:ln>
        </p:spPr>
      </p:pic>
      <p:pic>
        <p:nvPicPr>
          <p:cNvPr id="1436" name="Imagen 1435">
            <a:extLst>
              <a:ext uri="{FF2B5EF4-FFF2-40B4-BE49-F238E27FC236}">
                <a16:creationId xmlns:a16="http://schemas.microsoft.com/office/drawing/2014/main" id="{E3BD0530-B6D8-88AC-E707-33D880787EB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86975" y="23381337"/>
            <a:ext cx="1169326" cy="1169326"/>
          </a:xfrm>
          <a:prstGeom prst="rect">
            <a:avLst/>
          </a:prstGeom>
        </p:spPr>
      </p:pic>
      <p:pic>
        <p:nvPicPr>
          <p:cNvPr id="1437" name="Imagen 1436">
            <a:extLst>
              <a:ext uri="{FF2B5EF4-FFF2-40B4-BE49-F238E27FC236}">
                <a16:creationId xmlns:a16="http://schemas.microsoft.com/office/drawing/2014/main" id="{2BF19C3C-8513-205D-685C-27C4882890B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44636" y="28302334"/>
            <a:ext cx="814758" cy="814758"/>
          </a:xfrm>
          <a:prstGeom prst="rect">
            <a:avLst/>
          </a:prstGeom>
        </p:spPr>
      </p:pic>
      <p:sp>
        <p:nvSpPr>
          <p:cNvPr id="1438" name="CuadroTexto 1437">
            <a:extLst>
              <a:ext uri="{FF2B5EF4-FFF2-40B4-BE49-F238E27FC236}">
                <a16:creationId xmlns:a16="http://schemas.microsoft.com/office/drawing/2014/main" id="{268CF2F8-FB1D-B547-9362-A3DE3DE4F726}"/>
              </a:ext>
            </a:extLst>
          </p:cNvPr>
          <p:cNvSpPr txBox="1"/>
          <p:nvPr/>
        </p:nvSpPr>
        <p:spPr>
          <a:xfrm>
            <a:off x="7943691" y="24976448"/>
            <a:ext cx="2801486" cy="2267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19" i="1" dirty="0"/>
              <a:t>Baja visibilidad y GOES identifica nubes bajas. A pesar  de que el captador de roció midió agua, es probable que se deba a más bien deposición de niebla.</a:t>
            </a:r>
          </a:p>
        </p:txBody>
      </p:sp>
      <p:sp>
        <p:nvSpPr>
          <p:cNvPr id="1439" name="CuadroTexto 1438">
            <a:extLst>
              <a:ext uri="{FF2B5EF4-FFF2-40B4-BE49-F238E27FC236}">
                <a16:creationId xmlns:a16="http://schemas.microsoft.com/office/drawing/2014/main" id="{F6DD5B3B-8D68-A15E-B3A7-D2CE1EDB96C2}"/>
              </a:ext>
            </a:extLst>
          </p:cNvPr>
          <p:cNvSpPr txBox="1"/>
          <p:nvPr/>
        </p:nvSpPr>
        <p:spPr>
          <a:xfrm>
            <a:off x="7889283" y="29642535"/>
            <a:ext cx="2865284" cy="2267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19" i="1" dirty="0"/>
              <a:t>Aunque sólo midió el captador de niebla (y no el de rocío), se identifica como evento de rocío ya que no hubo nubes: GOES no identificó y la visibilidad es máxima.</a:t>
            </a:r>
          </a:p>
        </p:txBody>
      </p:sp>
      <p:sp>
        <p:nvSpPr>
          <p:cNvPr id="1440" name="CuadroTexto 1439">
            <a:extLst>
              <a:ext uri="{FF2B5EF4-FFF2-40B4-BE49-F238E27FC236}">
                <a16:creationId xmlns:a16="http://schemas.microsoft.com/office/drawing/2014/main" id="{DFBE40B4-6B97-9051-089A-D76EC03FB8CD}"/>
              </a:ext>
            </a:extLst>
          </p:cNvPr>
          <p:cNvSpPr txBox="1"/>
          <p:nvPr/>
        </p:nvSpPr>
        <p:spPr>
          <a:xfrm>
            <a:off x="8247981" y="24478252"/>
            <a:ext cx="1763335" cy="483209"/>
          </a:xfrm>
          <a:prstGeom prst="rect">
            <a:avLst/>
          </a:prstGeom>
          <a:solidFill>
            <a:srgbClr val="BDD7EE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CL" sz="3140" i="1" dirty="0"/>
              <a:t>Niebla</a:t>
            </a:r>
          </a:p>
        </p:txBody>
      </p:sp>
      <p:sp>
        <p:nvSpPr>
          <p:cNvPr id="1441" name="CuadroTexto 1440">
            <a:extLst>
              <a:ext uri="{FF2B5EF4-FFF2-40B4-BE49-F238E27FC236}">
                <a16:creationId xmlns:a16="http://schemas.microsoft.com/office/drawing/2014/main" id="{9979DF7E-53BC-7FB6-4EC3-FE1392A66DD6}"/>
              </a:ext>
            </a:extLst>
          </p:cNvPr>
          <p:cNvSpPr txBox="1"/>
          <p:nvPr/>
        </p:nvSpPr>
        <p:spPr>
          <a:xfrm>
            <a:off x="8247981" y="29154967"/>
            <a:ext cx="1763335" cy="483209"/>
          </a:xfrm>
          <a:prstGeom prst="rect">
            <a:avLst/>
          </a:prstGeom>
          <a:solidFill>
            <a:srgbClr val="BDD7EE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CL" sz="3140" i="1" dirty="0"/>
              <a:t>Rocío</a:t>
            </a:r>
          </a:p>
        </p:txBody>
      </p:sp>
      <p:sp>
        <p:nvSpPr>
          <p:cNvPr id="1442" name="Llave de cierre 1441">
            <a:extLst>
              <a:ext uri="{FF2B5EF4-FFF2-40B4-BE49-F238E27FC236}">
                <a16:creationId xmlns:a16="http://schemas.microsoft.com/office/drawing/2014/main" id="{BD194BF0-8F92-C0D8-15C6-7DB42D774A50}"/>
              </a:ext>
            </a:extLst>
          </p:cNvPr>
          <p:cNvSpPr/>
          <p:nvPr/>
        </p:nvSpPr>
        <p:spPr>
          <a:xfrm>
            <a:off x="7421740" y="23185764"/>
            <a:ext cx="336834" cy="452599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 sz="2019"/>
          </a:p>
        </p:txBody>
      </p:sp>
      <p:sp>
        <p:nvSpPr>
          <p:cNvPr id="1443" name="Llave de cierre 1442">
            <a:extLst>
              <a:ext uri="{FF2B5EF4-FFF2-40B4-BE49-F238E27FC236}">
                <a16:creationId xmlns:a16="http://schemas.microsoft.com/office/drawing/2014/main" id="{D5A03E55-1921-530B-EEEF-A1200E90034D}"/>
              </a:ext>
            </a:extLst>
          </p:cNvPr>
          <p:cNvSpPr/>
          <p:nvPr/>
        </p:nvSpPr>
        <p:spPr>
          <a:xfrm>
            <a:off x="7438563" y="28128668"/>
            <a:ext cx="336834" cy="452599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 sz="2019"/>
          </a:p>
        </p:txBody>
      </p:sp>
      <p:pic>
        <p:nvPicPr>
          <p:cNvPr id="1026" name="Picture 2" descr="Ecosistema terrestre &quot;Dunas tropicales costeras de Tillandsia landbeckii -  T. marconae&quot; - SIMBIO">
            <a:extLst>
              <a:ext uri="{FF2B5EF4-FFF2-40B4-BE49-F238E27FC236}">
                <a16:creationId xmlns:a16="http://schemas.microsoft.com/office/drawing/2014/main" id="{B7E57EE7-6045-BA92-4E49-07687E69A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8396" y="6850245"/>
            <a:ext cx="5858601" cy="3178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0C2FEF1-B891-748D-0EC1-8E626B738E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8" r="4178"/>
          <a:stretch>
            <a:fillRect/>
          </a:stretch>
        </p:blipFill>
        <p:spPr bwMode="auto">
          <a:xfrm>
            <a:off x="853830" y="17205487"/>
            <a:ext cx="10177331" cy="37893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0E2EEBA-91E7-CED6-F9E0-E210C1BD8F6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463818" y="23391381"/>
            <a:ext cx="12238830" cy="9806756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2085EC9-C463-FDD8-F97A-77C48516778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1880" t="13484" r="7212" b="9096"/>
          <a:stretch>
            <a:fillRect/>
          </a:stretch>
        </p:blipFill>
        <p:spPr>
          <a:xfrm>
            <a:off x="2899685" y="12083137"/>
            <a:ext cx="6199775" cy="428854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4" name="Picture 2" descr="Crean el primer mapa de agua de niebla en Chile: revela potencial hídrico  de la camanchaca costera - Induambiente">
            <a:extLst>
              <a:ext uri="{FF2B5EF4-FFF2-40B4-BE49-F238E27FC236}">
                <a16:creationId xmlns:a16="http://schemas.microsoft.com/office/drawing/2014/main" id="{1ECCFB9D-19B7-E45E-13B1-B7E13C737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8396" y="10858916"/>
            <a:ext cx="5860575" cy="3985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13F57886-C677-2DBD-ADD5-CEA581B15C9C}"/>
              </a:ext>
            </a:extLst>
          </p:cNvPr>
          <p:cNvSpPr txBox="1"/>
          <p:nvPr/>
        </p:nvSpPr>
        <p:spPr>
          <a:xfrm>
            <a:off x="10922404" y="14899543"/>
            <a:ext cx="7003265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6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Fig. 2</a:t>
            </a:r>
            <a:r>
              <a:rPr lang="es-MX" sz="2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Captadores de niebla y rocío.</a:t>
            </a:r>
            <a:endParaRPr lang="es-CL" sz="26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C87F191-235A-7799-22F4-D92840DA4574}"/>
              </a:ext>
            </a:extLst>
          </p:cNvPr>
          <p:cNvSpPr txBox="1"/>
          <p:nvPr/>
        </p:nvSpPr>
        <p:spPr>
          <a:xfrm>
            <a:off x="1514129" y="16457796"/>
            <a:ext cx="9013499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6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Fig. 3.</a:t>
            </a:r>
            <a:r>
              <a:rPr lang="es-MX" sz="2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Proporción de eventos, estación 1211 del cerro Oyarbide.</a:t>
            </a:r>
            <a:endParaRPr lang="es-CL" sz="26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FDC101C-E4B8-9423-ACCD-B4A1D25ACC8B}"/>
              </a:ext>
            </a:extLst>
          </p:cNvPr>
          <p:cNvSpPr txBox="1"/>
          <p:nvPr/>
        </p:nvSpPr>
        <p:spPr>
          <a:xfrm>
            <a:off x="7506988" y="12144700"/>
            <a:ext cx="18922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1">
                  <a:lumMod val="50000"/>
                </a:schemeClr>
              </a:buClr>
              <a:buSzPct val="120000"/>
            </a:pPr>
            <a:r>
              <a:rPr lang="es-MX" sz="2000" dirty="0">
                <a:solidFill>
                  <a:srgbClr val="002060"/>
                </a:solidFill>
              </a:rPr>
              <a:t>Niebla: 3.6%</a:t>
            </a:r>
          </a:p>
          <a:p>
            <a:pPr algn="just">
              <a:buClr>
                <a:schemeClr val="accent1">
                  <a:lumMod val="50000"/>
                </a:schemeClr>
              </a:buClr>
              <a:buSzPct val="120000"/>
            </a:pPr>
            <a:r>
              <a:rPr lang="es-MX" sz="2000" dirty="0">
                <a:solidFill>
                  <a:srgbClr val="002060"/>
                </a:solidFill>
              </a:rPr>
              <a:t>Rocío: 0.5%</a:t>
            </a:r>
          </a:p>
          <a:p>
            <a:pPr algn="just">
              <a:buClr>
                <a:schemeClr val="accent1">
                  <a:lumMod val="50000"/>
                </a:schemeClr>
              </a:buClr>
              <a:buSzPct val="120000"/>
            </a:pPr>
            <a:r>
              <a:rPr lang="es-MX" sz="2000" dirty="0">
                <a:solidFill>
                  <a:srgbClr val="002060"/>
                </a:solidFill>
              </a:rPr>
              <a:t>Ambos: 3.8%</a:t>
            </a:r>
          </a:p>
          <a:p>
            <a:pPr algn="just">
              <a:buClr>
                <a:schemeClr val="accent1">
                  <a:lumMod val="50000"/>
                </a:schemeClr>
              </a:buClr>
              <a:buSzPct val="120000"/>
            </a:pPr>
            <a:r>
              <a:rPr lang="es-MX" sz="2000" dirty="0">
                <a:solidFill>
                  <a:srgbClr val="002060"/>
                </a:solidFill>
              </a:rPr>
              <a:t>Ninguno: 92%</a:t>
            </a:r>
          </a:p>
        </p:txBody>
      </p:sp>
      <p:sp>
        <p:nvSpPr>
          <p:cNvPr id="29" name="Rectángulo: esquinas redondeadas 1352">
            <a:extLst>
              <a:ext uri="{FF2B5EF4-FFF2-40B4-BE49-F238E27FC236}">
                <a16:creationId xmlns:a16="http://schemas.microsoft.com/office/drawing/2014/main" id="{3E9FB075-D065-406D-7461-AF404034B845}"/>
              </a:ext>
            </a:extLst>
          </p:cNvPr>
          <p:cNvSpPr/>
          <p:nvPr/>
        </p:nvSpPr>
        <p:spPr>
          <a:xfrm>
            <a:off x="11334497" y="15852278"/>
            <a:ext cx="5967030" cy="5229007"/>
          </a:xfrm>
          <a:prstGeom prst="roundRect">
            <a:avLst>
              <a:gd name="adj" fmla="val 3685"/>
            </a:avLst>
          </a:prstGeom>
          <a:solidFill>
            <a:srgbClr val="BDD7EE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19"/>
          </a:p>
        </p:txBody>
      </p:sp>
      <p:sp>
        <p:nvSpPr>
          <p:cNvPr id="35" name="Rectángulo: esquinas redondeadas 1352">
            <a:extLst>
              <a:ext uri="{FF2B5EF4-FFF2-40B4-BE49-F238E27FC236}">
                <a16:creationId xmlns:a16="http://schemas.microsoft.com/office/drawing/2014/main" id="{A26C910A-15BB-517C-6507-6B5EE5EA3728}"/>
              </a:ext>
            </a:extLst>
          </p:cNvPr>
          <p:cNvSpPr/>
          <p:nvPr/>
        </p:nvSpPr>
        <p:spPr>
          <a:xfrm>
            <a:off x="17949918" y="17346446"/>
            <a:ext cx="8610096" cy="3711254"/>
          </a:xfrm>
          <a:prstGeom prst="roundRect">
            <a:avLst>
              <a:gd name="adj" fmla="val 3685"/>
            </a:avLst>
          </a:prstGeom>
          <a:solidFill>
            <a:srgbClr val="BDD7EE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19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244158A-1B1C-7BDB-0035-167198670F1C}"/>
              </a:ext>
            </a:extLst>
          </p:cNvPr>
          <p:cNvSpPr txBox="1"/>
          <p:nvPr/>
        </p:nvSpPr>
        <p:spPr>
          <a:xfrm>
            <a:off x="11455824" y="16023750"/>
            <a:ext cx="5595485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6844" indent="-576844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r>
              <a:rPr lang="es-MX" sz="314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Ambos eventos indican saturación del aire, pero son procesos distintos.</a:t>
            </a:r>
          </a:p>
          <a:p>
            <a:pPr marL="576844" indent="-576844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r>
              <a:rPr lang="es-MX" sz="314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Muy pocos estudios. Niebla se origina bajo atmósferas turbulentas y rocío bajo atmósferas estables.</a:t>
            </a:r>
          </a:p>
          <a:p>
            <a:pPr marL="576844" indent="-576844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r>
              <a:rPr lang="es-MX" sz="314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Temperatura potencial y humedad específica serán estudiadas.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CF26FA2-B412-4BAF-3401-ED498D5BCE10}"/>
              </a:ext>
            </a:extLst>
          </p:cNvPr>
          <p:cNvSpPr txBox="1"/>
          <p:nvPr/>
        </p:nvSpPr>
        <p:spPr>
          <a:xfrm>
            <a:off x="18127931" y="17038223"/>
            <a:ext cx="8254069" cy="39580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endParaRPr lang="en-US" sz="3140" dirty="0">
              <a:solidFill>
                <a:schemeClr val="tx1"/>
              </a:solidFill>
            </a:endParaRPr>
          </a:p>
          <a:p>
            <a:pPr marL="576844" indent="-576844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r>
              <a:rPr lang="es-CL" sz="314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Tras reclasificar, se analizan los gradientes verticales de temperatura potencial. Se utilizaron todas las estaciones, y como referencia la estación del aeropuerto (fuente DGAC).</a:t>
            </a:r>
          </a:p>
          <a:p>
            <a:pPr marL="576844" indent="-576844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r>
              <a:rPr lang="es-CL" sz="314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Para el análisis y visualización se utilizó el paquete {</a:t>
            </a:r>
            <a:r>
              <a:rPr lang="es-CL" sz="314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Tidyverse</a:t>
            </a:r>
            <a:r>
              <a:rPr lang="es-CL" sz="314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} en R.</a:t>
            </a:r>
            <a:endParaRPr lang="es-MX" sz="314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Llave de cierre 32">
            <a:extLst>
              <a:ext uri="{FF2B5EF4-FFF2-40B4-BE49-F238E27FC236}">
                <a16:creationId xmlns:a16="http://schemas.microsoft.com/office/drawing/2014/main" id="{6B877419-748D-ECB4-6881-951B50A11068}"/>
              </a:ext>
            </a:extLst>
          </p:cNvPr>
          <p:cNvSpPr/>
          <p:nvPr/>
        </p:nvSpPr>
        <p:spPr>
          <a:xfrm>
            <a:off x="22052768" y="13292939"/>
            <a:ext cx="555812" cy="3387150"/>
          </a:xfrm>
          <a:prstGeom prst="rightBrac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69E8EBAB-BD9B-0CB2-B507-3849FA2EB50C}"/>
                  </a:ext>
                </a:extLst>
              </p:cNvPr>
              <p:cNvSpPr txBox="1"/>
              <p:nvPr/>
            </p:nvSpPr>
            <p:spPr>
              <a:xfrm>
                <a:off x="27122194" y="15938280"/>
                <a:ext cx="4850237" cy="8017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E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s-E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s-E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s-E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s-E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f>
                                <m:fPr>
                                  <m:ctrlPr>
                                    <a:rPr lang="es-E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s-E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s-ES" sz="32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32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s-ES" sz="32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s-E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" sz="32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32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s-ES" sz="32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s-E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s-E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ES" sz="32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ES" sz="32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acc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s-CL" sz="32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69E8EBAB-BD9B-0CB2-B507-3849FA2EB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2194" y="15938280"/>
                <a:ext cx="4850237" cy="801758"/>
              </a:xfrm>
              <a:prstGeom prst="rect">
                <a:avLst/>
              </a:prstGeom>
              <a:blipFill>
                <a:blip r:embed="rId15"/>
                <a:stretch>
                  <a:fillRect t="-3125" b="-21875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0CDDEC4F-83E7-BE4C-274F-2FA1DF68BED8}"/>
                  </a:ext>
                </a:extLst>
              </p:cNvPr>
              <p:cNvSpPr txBox="1"/>
              <p:nvPr/>
            </p:nvSpPr>
            <p:spPr>
              <a:xfrm>
                <a:off x="26965393" y="16810818"/>
                <a:ext cx="3825387" cy="12053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s-E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s-CL" sz="32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s-E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sSup>
                        <m:sSupPr>
                          <m:ctrlPr>
                            <a:rPr lang="es-E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ES" sz="32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32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s-ES" sz="32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s-E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s-E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s-E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s-ES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s-CL" sz="32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0CDDEC4F-83E7-BE4C-274F-2FA1DF68B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5393" y="16810818"/>
                <a:ext cx="3825387" cy="1205395"/>
              </a:xfrm>
              <a:prstGeom prst="rect">
                <a:avLst/>
              </a:prstGeom>
              <a:blipFill>
                <a:blip r:embed="rId16"/>
                <a:stretch>
                  <a:fillRect b="-10417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578809DE-E937-F401-87B7-BB7AEEC5B3D0}"/>
                  </a:ext>
                </a:extLst>
              </p:cNvPr>
              <p:cNvSpPr txBox="1"/>
              <p:nvPr/>
            </p:nvSpPr>
            <p:spPr>
              <a:xfrm>
                <a:off x="27019474" y="18345130"/>
                <a:ext cx="5158435" cy="10195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E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s-CL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CL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s-CL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s-E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s-CL" sz="32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s-CL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CL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s-CL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E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s-ES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E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s-E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E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E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s-ES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ES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L" sz="32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578809DE-E937-F401-87B7-BB7AEEC5B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9474" y="18345130"/>
                <a:ext cx="5158435" cy="1019574"/>
              </a:xfrm>
              <a:prstGeom prst="rect">
                <a:avLst/>
              </a:prstGeom>
              <a:blipFill>
                <a:blip r:embed="rId17"/>
                <a:stretch>
                  <a:fillRect t="-1235" b="-8642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0" name="Picture 6" descr="The tidyverse logo, using ASCII or Unicode characters — tidyverse_logo •  tidyverse">
            <a:extLst>
              <a:ext uri="{FF2B5EF4-FFF2-40B4-BE49-F238E27FC236}">
                <a16:creationId xmlns:a16="http://schemas.microsoft.com/office/drawing/2014/main" id="{1A66C424-E997-814C-484A-61ECEFFA1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7810" y="19736700"/>
            <a:ext cx="1580274" cy="182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16 The data science workflow with Tidyverse – Introduction to R &amp; Data">
            <a:extLst>
              <a:ext uri="{FF2B5EF4-FFF2-40B4-BE49-F238E27FC236}">
                <a16:creationId xmlns:a16="http://schemas.microsoft.com/office/drawing/2014/main" id="{2A1937BE-37C4-CDF2-29AE-A88C7A07A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9052" y="19769800"/>
            <a:ext cx="1525903" cy="1768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81C7ACAF-100B-38DD-6A45-9B87A0B60C68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6229" t="15447" b="6000"/>
          <a:stretch>
            <a:fillRect/>
          </a:stretch>
        </p:blipFill>
        <p:spPr>
          <a:xfrm>
            <a:off x="2674936" y="34934873"/>
            <a:ext cx="6724316" cy="479110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61A0026D-62A7-AE15-66E0-B5B01CA3EF65}"/>
              </a:ext>
            </a:extLst>
          </p:cNvPr>
          <p:cNvSpPr txBox="1"/>
          <p:nvPr/>
        </p:nvSpPr>
        <p:spPr>
          <a:xfrm>
            <a:off x="7632730" y="35081659"/>
            <a:ext cx="18922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1">
                  <a:lumMod val="50000"/>
                </a:schemeClr>
              </a:buClr>
              <a:buSzPct val="120000"/>
            </a:pPr>
            <a:r>
              <a:rPr lang="es-MX" sz="2000" dirty="0">
                <a:solidFill>
                  <a:srgbClr val="002060"/>
                </a:solidFill>
              </a:rPr>
              <a:t>Niebla: 4.4%</a:t>
            </a:r>
          </a:p>
          <a:p>
            <a:pPr algn="just">
              <a:buClr>
                <a:schemeClr val="accent1">
                  <a:lumMod val="50000"/>
                </a:schemeClr>
              </a:buClr>
              <a:buSzPct val="120000"/>
            </a:pPr>
            <a:r>
              <a:rPr lang="es-MX" sz="2000" dirty="0">
                <a:solidFill>
                  <a:srgbClr val="002060"/>
                </a:solidFill>
              </a:rPr>
              <a:t>Rocío: 3.6%</a:t>
            </a:r>
          </a:p>
          <a:p>
            <a:pPr algn="just">
              <a:buClr>
                <a:schemeClr val="accent1">
                  <a:lumMod val="50000"/>
                </a:schemeClr>
              </a:buClr>
              <a:buSzPct val="120000"/>
            </a:pPr>
            <a:r>
              <a:rPr lang="es-MX" sz="2000" dirty="0">
                <a:solidFill>
                  <a:srgbClr val="002060"/>
                </a:solidFill>
              </a:rPr>
              <a:t>Ninguno: 92%</a:t>
            </a:r>
          </a:p>
        </p:txBody>
      </p:sp>
      <p:sp>
        <p:nvSpPr>
          <p:cNvPr id="53" name="Rectángulo redondeado 52">
            <a:extLst>
              <a:ext uri="{FF2B5EF4-FFF2-40B4-BE49-F238E27FC236}">
                <a16:creationId xmlns:a16="http://schemas.microsoft.com/office/drawing/2014/main" id="{B6ED2059-39F0-9113-1F57-5BF999068CCF}"/>
              </a:ext>
            </a:extLst>
          </p:cNvPr>
          <p:cNvSpPr/>
          <p:nvPr/>
        </p:nvSpPr>
        <p:spPr>
          <a:xfrm>
            <a:off x="1409996" y="34700599"/>
            <a:ext cx="681824" cy="567845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200" b="1" dirty="0"/>
              <a:t>R</a:t>
            </a:r>
          </a:p>
          <a:p>
            <a:pPr algn="ctr"/>
            <a:r>
              <a:rPr lang="es-CL" sz="2200" b="1" dirty="0"/>
              <a:t>E</a:t>
            </a:r>
          </a:p>
          <a:p>
            <a:pPr algn="ctr"/>
            <a:r>
              <a:rPr lang="es-CL" sz="2200" b="1" dirty="0"/>
              <a:t>C</a:t>
            </a:r>
          </a:p>
          <a:p>
            <a:pPr algn="ctr"/>
            <a:r>
              <a:rPr lang="es-CL" sz="2200" b="1" dirty="0"/>
              <a:t>L</a:t>
            </a:r>
          </a:p>
          <a:p>
            <a:pPr algn="ctr"/>
            <a:r>
              <a:rPr lang="es-CL" sz="2200" b="1" dirty="0"/>
              <a:t>A</a:t>
            </a:r>
          </a:p>
          <a:p>
            <a:pPr algn="ctr"/>
            <a:r>
              <a:rPr lang="es-CL" sz="2200" b="1" dirty="0"/>
              <a:t>S</a:t>
            </a:r>
          </a:p>
          <a:p>
            <a:pPr algn="ctr"/>
            <a:r>
              <a:rPr lang="es-CL" sz="2200" b="1" dirty="0"/>
              <a:t>I</a:t>
            </a:r>
          </a:p>
          <a:p>
            <a:pPr algn="ctr"/>
            <a:r>
              <a:rPr lang="es-CL" sz="2200" b="1" dirty="0"/>
              <a:t>F</a:t>
            </a:r>
          </a:p>
          <a:p>
            <a:pPr algn="ctr"/>
            <a:r>
              <a:rPr lang="es-CL" sz="2200" b="1" dirty="0"/>
              <a:t>I</a:t>
            </a:r>
            <a:br>
              <a:rPr lang="es-CL" sz="2200" b="1" dirty="0"/>
            </a:br>
            <a:r>
              <a:rPr lang="es-CL" sz="2200" b="1" dirty="0"/>
              <a:t>C</a:t>
            </a:r>
          </a:p>
          <a:p>
            <a:pPr algn="ctr"/>
            <a:r>
              <a:rPr lang="es-CL" sz="2200" b="1" dirty="0"/>
              <a:t>A</a:t>
            </a:r>
          </a:p>
          <a:p>
            <a:pPr algn="ctr"/>
            <a:r>
              <a:rPr lang="es-CL" sz="2200" b="1" dirty="0"/>
              <a:t>C</a:t>
            </a:r>
          </a:p>
          <a:p>
            <a:pPr algn="ctr"/>
            <a:r>
              <a:rPr lang="es-CL" sz="2200" b="1" dirty="0"/>
              <a:t>I</a:t>
            </a:r>
          </a:p>
          <a:p>
            <a:pPr algn="ctr"/>
            <a:r>
              <a:rPr lang="es-CL" sz="2200" b="1" dirty="0" err="1"/>
              <a:t>Ó</a:t>
            </a:r>
            <a:endParaRPr lang="es-CL" sz="2200" b="1" dirty="0"/>
          </a:p>
          <a:p>
            <a:pPr algn="ctr"/>
            <a:r>
              <a:rPr lang="es-CL" sz="2200" b="1" dirty="0"/>
              <a:t>N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CE11FFA4-E575-E057-DC3A-DC822964D6C8}"/>
              </a:ext>
            </a:extLst>
          </p:cNvPr>
          <p:cNvSpPr txBox="1"/>
          <p:nvPr/>
        </p:nvSpPr>
        <p:spPr>
          <a:xfrm>
            <a:off x="4310772" y="34194882"/>
            <a:ext cx="39988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3600" b="1" i="1" dirty="0">
                <a:solidFill>
                  <a:srgbClr val="002060"/>
                </a:solidFill>
              </a:rPr>
              <a:t>VISIBILIDAD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C8C48D2-601A-FA27-D70F-78591301E230}"/>
              </a:ext>
            </a:extLst>
          </p:cNvPr>
          <p:cNvSpPr txBox="1"/>
          <p:nvPr/>
        </p:nvSpPr>
        <p:spPr>
          <a:xfrm>
            <a:off x="11296245" y="34239244"/>
            <a:ext cx="39988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3600" b="1" i="1" dirty="0">
                <a:solidFill>
                  <a:srgbClr val="002060"/>
                </a:solidFill>
              </a:rPr>
              <a:t>GOES</a:t>
            </a:r>
          </a:p>
        </p:txBody>
      </p:sp>
      <p:pic>
        <p:nvPicPr>
          <p:cNvPr id="1344" name="Imagen 1343">
            <a:extLst>
              <a:ext uri="{FF2B5EF4-FFF2-40B4-BE49-F238E27FC236}">
                <a16:creationId xmlns:a16="http://schemas.microsoft.com/office/drawing/2014/main" id="{B16885F2-FD85-2C12-F9C8-426C902CC2EE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4169" t="16182" b="6747"/>
          <a:stretch>
            <a:fillRect/>
          </a:stretch>
        </p:blipFill>
        <p:spPr>
          <a:xfrm>
            <a:off x="9786526" y="34964589"/>
            <a:ext cx="7008567" cy="4791109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345" name="CuadroTexto 1344">
            <a:extLst>
              <a:ext uri="{FF2B5EF4-FFF2-40B4-BE49-F238E27FC236}">
                <a16:creationId xmlns:a16="http://schemas.microsoft.com/office/drawing/2014/main" id="{86362B5D-637C-2040-CA7E-A256A31CE129}"/>
              </a:ext>
            </a:extLst>
          </p:cNvPr>
          <p:cNvSpPr txBox="1"/>
          <p:nvPr/>
        </p:nvSpPr>
        <p:spPr>
          <a:xfrm>
            <a:off x="15062563" y="35066313"/>
            <a:ext cx="18922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1">
                  <a:lumMod val="50000"/>
                </a:schemeClr>
              </a:buClr>
              <a:buSzPct val="120000"/>
            </a:pPr>
            <a:r>
              <a:rPr lang="es-MX" sz="2000" dirty="0">
                <a:solidFill>
                  <a:srgbClr val="002060"/>
                </a:solidFill>
              </a:rPr>
              <a:t>Niebla: 1.3%</a:t>
            </a:r>
          </a:p>
          <a:p>
            <a:pPr algn="just">
              <a:buClr>
                <a:schemeClr val="accent1">
                  <a:lumMod val="50000"/>
                </a:schemeClr>
              </a:buClr>
              <a:buSzPct val="120000"/>
            </a:pPr>
            <a:r>
              <a:rPr lang="es-MX" sz="2000" dirty="0">
                <a:solidFill>
                  <a:srgbClr val="002060"/>
                </a:solidFill>
              </a:rPr>
              <a:t>Rocío: 6.6%</a:t>
            </a:r>
          </a:p>
          <a:p>
            <a:pPr algn="just">
              <a:buClr>
                <a:schemeClr val="accent1">
                  <a:lumMod val="50000"/>
                </a:schemeClr>
              </a:buClr>
              <a:buSzPct val="120000"/>
            </a:pPr>
            <a:r>
              <a:rPr lang="es-MX" sz="2000" dirty="0">
                <a:solidFill>
                  <a:srgbClr val="002060"/>
                </a:solidFill>
              </a:rPr>
              <a:t>Ninguno: 92%</a:t>
            </a:r>
          </a:p>
        </p:txBody>
      </p:sp>
      <p:sp>
        <p:nvSpPr>
          <p:cNvPr id="1346" name="CuadroTexto 1345">
            <a:extLst>
              <a:ext uri="{FF2B5EF4-FFF2-40B4-BE49-F238E27FC236}">
                <a16:creationId xmlns:a16="http://schemas.microsoft.com/office/drawing/2014/main" id="{CE483FD6-5414-4F50-8AC3-2FA39372267A}"/>
              </a:ext>
            </a:extLst>
          </p:cNvPr>
          <p:cNvSpPr txBox="1"/>
          <p:nvPr/>
        </p:nvSpPr>
        <p:spPr>
          <a:xfrm>
            <a:off x="529682" y="39844724"/>
            <a:ext cx="18779851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6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Fig. 7. </a:t>
            </a:r>
            <a:r>
              <a:rPr lang="es-CL" sz="2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tras reclasificación. A la izquierda, bajo criterio de visibilidad. A la derecha, con GOES.</a:t>
            </a:r>
          </a:p>
        </p:txBody>
      </p:sp>
      <p:pic>
        <p:nvPicPr>
          <p:cNvPr id="1349" name="Imagen 1348">
            <a:extLst>
              <a:ext uri="{FF2B5EF4-FFF2-40B4-BE49-F238E27FC236}">
                <a16:creationId xmlns:a16="http://schemas.microsoft.com/office/drawing/2014/main" id="{D9BCA9E4-B23A-8802-02E1-B91AAC043D28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8329" b="13505"/>
          <a:stretch>
            <a:fillRect/>
          </a:stretch>
        </p:blipFill>
        <p:spPr>
          <a:xfrm>
            <a:off x="25465207" y="33949178"/>
            <a:ext cx="6563721" cy="5256969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350" name="CuadroTexto 1349">
            <a:extLst>
              <a:ext uri="{FF2B5EF4-FFF2-40B4-BE49-F238E27FC236}">
                <a16:creationId xmlns:a16="http://schemas.microsoft.com/office/drawing/2014/main" id="{E97E6970-4FE1-AD38-3B50-EB1B6FABF254}"/>
              </a:ext>
            </a:extLst>
          </p:cNvPr>
          <p:cNvSpPr txBox="1"/>
          <p:nvPr/>
        </p:nvSpPr>
        <p:spPr>
          <a:xfrm>
            <a:off x="15995006" y="33246997"/>
            <a:ext cx="18779851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6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Fig. 8. </a:t>
            </a:r>
            <a:r>
              <a:rPr lang="es-CL" sz="2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Gradiente vertical de temperatura potencial para cada hora de un día en donde hubo niebla.</a:t>
            </a:r>
          </a:p>
        </p:txBody>
      </p:sp>
      <p:sp>
        <p:nvSpPr>
          <p:cNvPr id="1354" name="CuadroTexto 1353">
            <a:extLst>
              <a:ext uri="{FF2B5EF4-FFF2-40B4-BE49-F238E27FC236}">
                <a16:creationId xmlns:a16="http://schemas.microsoft.com/office/drawing/2014/main" id="{1A052051-15AD-CD82-1F09-A8925F52A526}"/>
              </a:ext>
            </a:extLst>
          </p:cNvPr>
          <p:cNvSpPr txBox="1"/>
          <p:nvPr/>
        </p:nvSpPr>
        <p:spPr>
          <a:xfrm>
            <a:off x="24982319" y="39268434"/>
            <a:ext cx="7416969" cy="1315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6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Fig. 9. </a:t>
            </a:r>
            <a:r>
              <a:rPr lang="es-CL" sz="2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Mismo día que la Fig. 8. Horas coinciden con captación, visibilidad, GOES y con gradiente vertical de temperatura potencial. Día de niebla.</a:t>
            </a:r>
          </a:p>
        </p:txBody>
      </p:sp>
      <p:sp>
        <p:nvSpPr>
          <p:cNvPr id="1355" name="Rectángulo: esquinas redondeadas 1351">
            <a:extLst>
              <a:ext uri="{FF2B5EF4-FFF2-40B4-BE49-F238E27FC236}">
                <a16:creationId xmlns:a16="http://schemas.microsoft.com/office/drawing/2014/main" id="{ABEC6088-599C-498D-0420-B8DD4E320D8A}"/>
              </a:ext>
            </a:extLst>
          </p:cNvPr>
          <p:cNvSpPr/>
          <p:nvPr/>
        </p:nvSpPr>
        <p:spPr>
          <a:xfrm>
            <a:off x="17301527" y="34048740"/>
            <a:ext cx="7693997" cy="6380836"/>
          </a:xfrm>
          <a:prstGeom prst="roundRect">
            <a:avLst>
              <a:gd name="adj" fmla="val 9487"/>
            </a:avLst>
          </a:prstGeom>
          <a:solidFill>
            <a:srgbClr val="BDD7EE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19"/>
          </a:p>
        </p:txBody>
      </p:sp>
      <p:sp>
        <p:nvSpPr>
          <p:cNvPr id="1359" name="CuadroTexto 1358">
            <a:extLst>
              <a:ext uri="{FF2B5EF4-FFF2-40B4-BE49-F238E27FC236}">
                <a16:creationId xmlns:a16="http://schemas.microsoft.com/office/drawing/2014/main" id="{D8859A35-F1C0-7355-A309-1B6F7AA59899}"/>
              </a:ext>
            </a:extLst>
          </p:cNvPr>
          <p:cNvSpPr txBox="1"/>
          <p:nvPr/>
        </p:nvSpPr>
        <p:spPr>
          <a:xfrm>
            <a:off x="11693296" y="23449754"/>
            <a:ext cx="6738534" cy="927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6844" indent="-576844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r>
              <a:rPr lang="es-MX" sz="314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 identificaron días en que ambos captadores respondieron simultáneamente, evidenciando confusión.</a:t>
            </a:r>
          </a:p>
          <a:p>
            <a:pPr marL="576844" indent="-576844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r>
              <a:rPr lang="es-MX" sz="314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 bien visibilidad y GOES son útiles para clasificar, la visibilidad parece más confiable al coincidir mejor con los momentos reales de captación.</a:t>
            </a:r>
          </a:p>
          <a:p>
            <a:pPr marL="576844" indent="-576844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r>
              <a:rPr lang="es-MX" sz="314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Tras la reclasificación, se incrementa la proporción de eventos clasificados como rocío.</a:t>
            </a:r>
          </a:p>
          <a:p>
            <a:pPr marL="576844" indent="-576844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r>
              <a:rPr lang="es-MX" sz="314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Esto sugiere que parte de la captación atribuída incialmente a niebla podría deberse a condensación superficial, reforzando la importancia de integrar variables locales (visibilidad, temperatura, etc.) para discriminar ambos procesos.</a:t>
            </a:r>
          </a:p>
        </p:txBody>
      </p:sp>
      <p:sp>
        <p:nvSpPr>
          <p:cNvPr id="1363" name="CuadroTexto 1362">
            <a:extLst>
              <a:ext uri="{FF2B5EF4-FFF2-40B4-BE49-F238E27FC236}">
                <a16:creationId xmlns:a16="http://schemas.microsoft.com/office/drawing/2014/main" id="{7409C556-54EF-A916-B01A-D590B5FBC8C3}"/>
              </a:ext>
            </a:extLst>
          </p:cNvPr>
          <p:cNvSpPr txBox="1"/>
          <p:nvPr/>
        </p:nvSpPr>
        <p:spPr>
          <a:xfrm>
            <a:off x="17464560" y="34327240"/>
            <a:ext cx="7416968" cy="589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6844" indent="-576844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r>
              <a:rPr lang="es-MX" sz="314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Durante las horas de niebla, los perfiles muestran una atmósfera bien mezclada, coincidiendo con captación, baja visibilidad y detección GOES.</a:t>
            </a:r>
          </a:p>
          <a:p>
            <a:pPr marL="576844" indent="-576844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r>
              <a:rPr lang="es-MX" sz="314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 las horas sin niebla, la atmósfera se mantiene estable, coincidiendo con momentos de rocío.</a:t>
            </a:r>
          </a:p>
          <a:p>
            <a:pPr marL="576844" indent="-576844" algn="just">
              <a:buClr>
                <a:schemeClr val="accent1">
                  <a:lumMod val="50000"/>
                </a:schemeClr>
              </a:buClr>
              <a:buSzPct val="120000"/>
              <a:buFont typeface="Courier New" panose="02070309020205020404" pitchFamily="49" charset="0"/>
              <a:buChar char="o"/>
            </a:pPr>
            <a:r>
              <a:rPr lang="es-MX" sz="314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Estos resultados respaldan la hipótesis de que la niebla se asocia a mezcla vertical y el rocío a condiciones estables y enfriamiento superficial. Se espera abordar en profundidad esto.</a:t>
            </a:r>
          </a:p>
        </p:txBody>
      </p:sp>
    </p:spTree>
    <p:extLst>
      <p:ext uri="{BB962C8B-B14F-4D97-AF65-F5344CB8AC3E}">
        <p14:creationId xmlns:p14="http://schemas.microsoft.com/office/powerpoint/2010/main" val="3672075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7193</TotalTime>
  <Words>898</Words>
  <Application>Microsoft Macintosh PowerPoint</Application>
  <PresentationFormat>Personalizado</PresentationFormat>
  <Paragraphs>101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Courier New</vt:lpstr>
      <vt:lpstr>Helvetica Neue</vt:lpstr>
      <vt:lpstr>Times New Roman</vt:lpstr>
      <vt:lpstr>Office 2013 - Tema de 2022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Diego Rivera</dc:creator>
  <cp:lastModifiedBy>Francisca Muñoz Narbona</cp:lastModifiedBy>
  <cp:revision>26</cp:revision>
  <dcterms:created xsi:type="dcterms:W3CDTF">2023-07-01T19:09:42Z</dcterms:created>
  <dcterms:modified xsi:type="dcterms:W3CDTF">2025-11-05T03:57:13Z</dcterms:modified>
</cp:coreProperties>
</file>